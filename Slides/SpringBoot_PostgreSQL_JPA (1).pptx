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1278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077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498080" y="2926080"/>
            <a:ext cx="2286000" cy="2286000"/>
          </a:xfrm>
          <a:prstGeom prst="ellipse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1D4ED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5760" y="548640"/>
            <a:ext cx="25603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PROGRAMAÇÃO OO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&amp; JPA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365760" y="2788920"/>
            <a:ext cx="54864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65760" y="2880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· JPA · Hibernate · Spring Data JPA · PostgreSQL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157276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65760" y="34290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ORM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84832" y="3429000"/>
            <a:ext cx="157276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084832" y="34290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JPA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03904" y="3429000"/>
            <a:ext cx="157276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803904" y="34290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Hibernate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22976" y="3429000"/>
            <a:ext cx="157276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522976" y="34290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Spring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42048" y="3429000"/>
            <a:ext cx="157276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242048" y="34290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Ensino Superior · Computação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59436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20040" y="107899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15214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O Problema: SQL puro em Java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840" y="1536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Por que surgiu a necessidade de ORM?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78992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754880" y="1078992"/>
            <a:ext cx="59436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754880" y="107899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115214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ORM — Object-Relational Mapping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40680" y="1536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Conceito e vantagens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01168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20040" y="2011680"/>
            <a:ext cx="59436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20040" y="201168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0848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JPA — Jakarta Persistence API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05840" y="24688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Especificação e contratos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754880" y="2011680"/>
            <a:ext cx="59436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754880" y="201168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20848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Hibernate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40680" y="24688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Implementação JPA mais popular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944368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320040" y="2944368"/>
            <a:ext cx="59436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20040" y="2944368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0175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Spring Data JPA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05840" y="34015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Abstração sobre JPA no Spring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944368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4754880" y="2944368"/>
            <a:ext cx="59436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754880" y="2944368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30175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Configurando o Projeto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40680" y="34015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start.spring.io + application.properties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496312" y="3877056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2496312" y="3877056"/>
            <a:ext cx="59436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2496312" y="3877056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182112" y="395020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Exemplo Prático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182112" y="43342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API de Produtos com PostgreSQL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 Problema: SQL puro em Java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38BDF8"/>
                </a:solidFill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Sem ORM — JDBC puro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023360" cy="205740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29768" y="1463040"/>
            <a:ext cx="382219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sql = "SELECT * FROM produtos WHERE id = ?";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29768" y="1604772"/>
            <a:ext cx="382219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con = DriverManager.getConnection(url, user, pw);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429768" y="1746504"/>
            <a:ext cx="382219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PreparedStatement ps = con.prepareStatement(sql);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429768" y="1888236"/>
            <a:ext cx="382219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ps.setLong(1, id);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429768" y="2029968"/>
            <a:ext cx="382219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ResultSet rs = ps.executeQuery();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29768" y="2171700"/>
            <a:ext cx="382219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 p = null;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29768" y="2313432"/>
            <a:ext cx="382219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(rs.next()) {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429768" y="2455164"/>
            <a:ext cx="382219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 = new Produto();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29768" y="2596896"/>
            <a:ext cx="382219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p.setId(rs.getLong("id"));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29768" y="2738628"/>
            <a:ext cx="382219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p.setNome(rs.getString("nome"));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29768" y="2880360"/>
            <a:ext cx="382219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p.setPreco(rs.getDouble("preco"));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429768" y="3022092"/>
            <a:ext cx="382219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29768" y="3163824"/>
            <a:ext cx="382219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rs.close(); ps.close(); con.close();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80060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Com ORM — Spring Data JPA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1371600"/>
            <a:ext cx="40233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910328" y="1463040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Apenas 1 linha!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910328" y="166420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Optional&lt;Produto&gt; p =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910328" y="1865376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repository.findById(id);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800600" y="2423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Problemas do JDBC puro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2807208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864608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48656" y="2807208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Mapeamento manual repetitivo (ResultSet → Objeto)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246120"/>
            <a:ext cx="4023360" cy="384048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864608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🐛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48656" y="3246120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Propenso a erros: nomes de colunas como strings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3685032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864608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48656" y="3685032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Gerenciamento manual de conexões e transações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4123944"/>
            <a:ext cx="4023360" cy="384048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864608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48656" y="4123944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SQL acoplado ao código Java (difícil manutenção)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4562856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4864608" y="4562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48656" y="4562856"/>
            <a:ext cx="3493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Sem portabilidade entre bancos de dados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4507992"/>
            <a:ext cx="85039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320040" y="450799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ORM resolve todos esses problemas: mapeamento automático, gerenciamento de conexões e SQL gerado automaticamente.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ORM — Object-Relational Mapping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38BDF8"/>
                </a:solidFill>
              </a:rPr>
              <a:t>02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Técnica que mapeia automaticamente objetos Java ↔ tabelas do banco de dados relacional,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elimirando a necessidade de escrever SQL manualmente para operações básicas.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719072"/>
            <a:ext cx="3291840" cy="2377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20040" y="17190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☕  Java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212848"/>
            <a:ext cx="3108960" cy="393192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" y="2212848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BDF8"/>
                </a:solidFill>
              </a:rPr>
              <a:t>Classe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0" y="2212848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660904"/>
            <a:ext cx="3108960" cy="393192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75488" y="2660904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BDF8"/>
                </a:solidFill>
              </a:rPr>
              <a:t>Objeto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28800" y="2660904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instância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108960"/>
            <a:ext cx="3108960" cy="393192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75488" y="3108960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BDF8"/>
                </a:solidFill>
              </a:rPr>
              <a:t>Atributo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28800" y="3108960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nome, preco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557016"/>
            <a:ext cx="3108960" cy="393192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75488" y="3557016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BDF8"/>
                </a:solidFill>
              </a:rPr>
              <a:t>Tipo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828800" y="3557016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Long, String, Double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03320" y="2423160"/>
            <a:ext cx="173736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703320" y="242316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ORM</a:t>
            </a:r>
            <a:endParaRPr lang="en-US" sz="1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⟷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532120" y="1719072"/>
            <a:ext cx="3291840" cy="2377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532120" y="17190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🗄️  Banco de Dados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23560" y="2212848"/>
            <a:ext cx="3108960" cy="393192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687568" y="2212848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E7B7"/>
                </a:solidFill>
              </a:rPr>
              <a:t>Tabela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49440" y="2212848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23560" y="2660904"/>
            <a:ext cx="3108960" cy="393192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687568" y="2660904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E7B7"/>
                </a:solidFill>
              </a:rPr>
              <a:t>Linha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49440" y="2660904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23560" y="3108960"/>
            <a:ext cx="3108960" cy="393192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5687568" y="3108960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E7B7"/>
                </a:solidFill>
              </a:rPr>
              <a:t>Coluna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49440" y="3108960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nome, preco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23560" y="3557016"/>
            <a:ext cx="3108960" cy="393192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687568" y="3557016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E7B7"/>
                </a:solidFill>
              </a:rPr>
              <a:t>Tipo SQL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49440" y="3557016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BIGINT, VARCHAR, FLOAT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Benefícios do ORM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20040" y="4526280"/>
            <a:ext cx="2057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365760" y="45262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31520" y="452628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</a:rPr>
              <a:t>Produtividade: menos código, mais rapidez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468880" y="4526280"/>
            <a:ext cx="2057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2514600" y="45262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880360" y="452628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</a:rPr>
              <a:t>Portabilidade entre bancos de dados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17720" y="4526280"/>
            <a:ext cx="2057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4663440" y="45262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029200" y="452628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</a:rPr>
              <a:t>Segurança: evita SQL Injection por padrão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766560" y="4526280"/>
            <a:ext cx="2057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6812280" y="45262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178040" y="452628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</a:rPr>
              <a:t>Manutenção: mudanças no modelo refletem no banco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JPA — Jakarta Persistence API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38BDF8"/>
                </a:solidFill>
              </a:rPr>
              <a:t>03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JPA</a:t>
            </a:r>
            <a:r>
              <a:rPr lang="en-US" sz="1300" dirty="0">
                <a:solidFill>
                  <a:srgbClr val="FFFFFF"/>
                </a:solidFill>
              </a:rPr>
              <a:t> é uma </a:t>
            </a:r>
            <a:r>
              <a:rPr lang="en-US" sz="1300" b="1" dirty="0">
                <a:solidFill>
                  <a:srgbClr val="38BDF8"/>
                </a:solidFill>
              </a:rPr>
              <a:t>especificação</a:t>
            </a:r>
            <a:r>
              <a:rPr lang="en-US" sz="1300" dirty="0">
                <a:solidFill>
                  <a:srgbClr val="FFFFFF"/>
                </a:solidFill>
              </a:rPr>
              <a:t> Java (não uma implementação!) que define como o ORM deve funcionar.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3200400" cy="2103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JPA (Spec)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@Entity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@Id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1518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@Column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@OneToMany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05409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@ManyToOne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2735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EntityManager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49300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JPQL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2468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implementada por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20440" y="2697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349240" y="1691640"/>
            <a:ext cx="3474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349240" y="1691640"/>
            <a:ext cx="73152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504688" y="17282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Hibernate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04688" y="2011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Mais popular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(padrão Spring Boot)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49240" y="2404872"/>
            <a:ext cx="3474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5349240" y="2404872"/>
            <a:ext cx="7315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504688" y="24414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EclipseLink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04688" y="27249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Referência oficial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da JPA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49240" y="3118104"/>
            <a:ext cx="3474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5349240" y="3118104"/>
            <a:ext cx="73152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504688" y="3154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OpenJPA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04688" y="3438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Apache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Foundation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" y="3858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Principais Anotações JPA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4224528"/>
            <a:ext cx="41605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393192" y="4224528"/>
            <a:ext cx="21031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14600" y="4224528"/>
            <a:ext cx="1874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Marca a classe como entidade persistida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4224528"/>
            <a:ext cx="4160520" cy="265176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736592" y="4224528"/>
            <a:ext cx="21031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@Table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58000" y="4224528"/>
            <a:ext cx="1874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Especifica nome da tabela no banco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4526280"/>
            <a:ext cx="41605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393192" y="4526280"/>
            <a:ext cx="21031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14600" y="4526280"/>
            <a:ext cx="1874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Define a chave primária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4526280"/>
            <a:ext cx="4160520" cy="265176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4736592" y="4526280"/>
            <a:ext cx="21031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@GeneratedValue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58000" y="4526280"/>
            <a:ext cx="1874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Estratégia de geração do ID (AUTO, IDENTITY...)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4828032"/>
            <a:ext cx="41605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393192" y="4828032"/>
            <a:ext cx="21031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@Column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14600" y="4828032"/>
            <a:ext cx="1874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Configura nome e restrições da coluna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4828032"/>
            <a:ext cx="4160520" cy="265176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4736592" y="4828032"/>
            <a:ext cx="21031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@OneToMany / @ManyToOne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58000" y="4828032"/>
            <a:ext cx="1874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Define relacionamentos entre entidades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Hibernate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38BDF8"/>
                </a:solidFill>
              </a:rPr>
              <a:t>04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566928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Hibernate é a implementação JPA mais utilizada no mundo Java. Incluído por padrão no Spring Boot via spring-boot-starter-data-jpa.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719072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20040" y="1719072"/>
            <a:ext cx="192024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20040" y="171907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3192" y="221284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</a:rPr>
              <a:t>Entidade Java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" y="2542032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Produto.java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40280" y="21488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96312" y="1719072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2496312" y="1719072"/>
            <a:ext cx="192024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496312" y="171907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69464" y="221284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Hibernate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9464" y="2542032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Gera SQL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automaticamente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16552" y="21488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72584" y="1719072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672584" y="1719072"/>
            <a:ext cx="192024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672584" y="171907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45736" y="221284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45736" y="2542032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Executa SQL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retorna dados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92824" y="21488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848856" y="1719072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6848856" y="1719072"/>
            <a:ext cx="192024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848856" y="171907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☕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22008" y="221284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</a:rPr>
              <a:t>Objeto Java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22008" y="2542032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Retorna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 populado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O que o Hibernate faz por você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3675888"/>
            <a:ext cx="4160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320040" y="3675888"/>
            <a:ext cx="7315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84632" y="367588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DDL Automático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901952" y="36758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Cria/atualiza tabelas automaticamente (spring.jpa.hibernate.ddl-auto)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675888"/>
            <a:ext cx="4160520" cy="41148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4663440" y="3675888"/>
            <a:ext cx="7315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828032" y="367588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SQL Gerado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45352" y="36758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INSERT, SELECT, UPDATE, DELETE gerado a partir dos métodos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4133088"/>
            <a:ext cx="4160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320040" y="4133088"/>
            <a:ext cx="7315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484632" y="413308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Cache de 1º Nível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901952" y="41330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EntityManager mantém cache por sessão (evita queries duplicadas)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4133088"/>
            <a:ext cx="4160520" cy="41148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4663440" y="4133088"/>
            <a:ext cx="7315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4828032" y="413308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Lazy Loading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45352" y="41330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Carrega relacionamentos só quando acessados (evita N+1)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4590288"/>
            <a:ext cx="4160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320040" y="4590288"/>
            <a:ext cx="7315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484632" y="459028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HQL / JPQL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901952" y="45902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Linguagem de consulta orientada a objetos (não a tabelas)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4590288"/>
            <a:ext cx="4160520" cy="41148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4663440" y="4590288"/>
            <a:ext cx="7315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4828032" y="459028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Transações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245352" y="45902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Integrado com @Transactional do Spring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Spring Data JPA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38BDF8"/>
                </a:solidFill>
              </a:rPr>
              <a:t>05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Camada de abstração sobre JPA/Hibernate. Com Spring Data JPA, você herda dezenas de operações sem escrever uma linha de SQL.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627632"/>
            <a:ext cx="5486400" cy="4297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828800" y="1627632"/>
            <a:ext cx="3200400" cy="4297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Sua Aplicação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627632"/>
            <a:ext cx="2194560" cy="4297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ProdutoService.java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2103120"/>
            <a:ext cx="5486400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828800" y="2103120"/>
            <a:ext cx="3200400" cy="4297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Spring Data JPA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2194560" cy="4297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JpaRepository (abstração)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0" y="2578608"/>
            <a:ext cx="5486400" cy="429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828800" y="2578608"/>
            <a:ext cx="3200400" cy="4297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JPA (Especificação)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578608"/>
            <a:ext cx="2194560" cy="4297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EntityManager, JPQL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3054096"/>
            <a:ext cx="5486400" cy="42976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828800" y="3054096"/>
            <a:ext cx="3200400" cy="4297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Hibernate (Impl.)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054096"/>
            <a:ext cx="2194560" cy="4297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SQL gerado automaticamente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0" y="3529584"/>
            <a:ext cx="5486400" cy="4297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828800" y="3529584"/>
            <a:ext cx="3200400" cy="4297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JDBC Driver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529584"/>
            <a:ext cx="2194560" cy="4297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Conexão com o banco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0" y="4005072"/>
            <a:ext cx="5486400" cy="429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828800" y="4005072"/>
            <a:ext cx="3200400" cy="4297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4005072"/>
            <a:ext cx="2194560" cy="4297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Banco de dados real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" y="4343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JpaRepository — Métodos prontos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626864"/>
            <a:ext cx="1353312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320040" y="491947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findAll()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764792" y="4615610"/>
            <a:ext cx="1353312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810512" y="491032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findById(id)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9544" y="4626864"/>
            <a:ext cx="1353312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3209544" y="491947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save(entity)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54296" y="4626864"/>
            <a:ext cx="1353312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654296" y="491947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delete(entity)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99048" y="4626864"/>
            <a:ext cx="1353312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099048" y="491947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543800" y="4626864"/>
            <a:ext cx="1353312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7543800" y="491947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existsById(id)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Criando o Projeto — start.spring.io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38BDF8"/>
                </a:solidFill>
              </a:rPr>
              <a:t>06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120640" cy="3931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12064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512064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🍃  Spring Initializr  —  start.spring.io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Project: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0" y="1527048"/>
            <a:ext cx="2468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901952" y="15270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Maven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Language: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0" y="1892808"/>
            <a:ext cx="2468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901952" y="18928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240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Spring Boot: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0" y="2258568"/>
            <a:ext cx="2468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901952" y="22585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3.x (LTS)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606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Group: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0" y="2624328"/>
            <a:ext cx="2468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901952" y="26243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com.exemplo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971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Artifact: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0" y="2990088"/>
            <a:ext cx="2468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901952" y="29900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produtos-api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Packaging: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828800" y="3355848"/>
            <a:ext cx="2468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901952" y="33558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Java: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0" y="3721608"/>
            <a:ext cx="2468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901952" y="37216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4114800"/>
            <a:ext cx="4919472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02920" y="41330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</a:rPr>
              <a:t>Dependencies: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4389120"/>
            <a:ext cx="15087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502920" y="43891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Spring Web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148840" y="4389120"/>
            <a:ext cx="15087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2148840" y="43891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Spring Data JPA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794760" y="4389120"/>
            <a:ext cx="15087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3794760" y="43891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PostgreSQL Driver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577840" y="1005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pom.xml — Dependências chave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577840" y="1371600"/>
            <a:ext cx="3429000" cy="35935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5687568" y="1426464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&lt;dependencies&gt;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5687568" y="1577340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5687568" y="1668780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API REST --&gt;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5687568" y="1819656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&lt;dependency&gt;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5687568" y="1970532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&lt;groupId&gt;org.springframework.boot&lt;/groupId&gt;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5687568" y="2121408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&lt;artifactId&gt;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5687568" y="2272284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spring-boot-starter-web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5687568" y="2423160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&lt;/artifactId&gt;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5687568" y="2574036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&lt;/dependency&gt;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5687568" y="2724912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5687568" y="2816352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JPA + Hibernate --&gt;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5687568" y="2967228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&lt;dependency&gt;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5687568" y="3118104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&lt;artifactId&gt;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5687568" y="3268980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spring-boot-starter-data-jpa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5687568" y="3419856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&lt;/artifactId&gt;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5687568" y="3570732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&lt;/dependency&gt;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5687568" y="3721608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5687568" y="3813048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PostgreSQL Driver --&gt;</a:t>
            </a:r>
            <a:endParaRPr lang="en-US" sz="780" dirty="0"/>
          </a:p>
        </p:txBody>
      </p:sp>
      <p:sp>
        <p:nvSpPr>
          <p:cNvPr id="57" name="Text 55"/>
          <p:cNvSpPr/>
          <p:nvPr/>
        </p:nvSpPr>
        <p:spPr>
          <a:xfrm>
            <a:off x="5687568" y="3963924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&lt;dependency&gt;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5687568" y="4114800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&lt;artifactId&gt;postgresql&lt;/artifactId&gt;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5687568" y="4265676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&lt;scope&gt;runtime&lt;/scope&gt;</a:t>
            </a:r>
            <a:endParaRPr lang="en-US" sz="780" dirty="0"/>
          </a:p>
        </p:txBody>
      </p:sp>
      <p:sp>
        <p:nvSpPr>
          <p:cNvPr id="60" name="Text 58"/>
          <p:cNvSpPr/>
          <p:nvPr/>
        </p:nvSpPr>
        <p:spPr>
          <a:xfrm>
            <a:off x="5687568" y="4416552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&lt;/dependency&gt;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5687568" y="4567428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&lt;/dependencies&gt;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Configuração — application.properties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38BDF8"/>
                </a:solidFill>
              </a:rPr>
              <a:t>06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src/main/resources/application.properties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5029200" cy="35844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7" name="Text 5"/>
          <p:cNvSpPr/>
          <p:nvPr/>
        </p:nvSpPr>
        <p:spPr>
          <a:xfrm>
            <a:off x="438912" y="1453896"/>
            <a:ext cx="4800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Conexão com PostgreSQL ─────────────────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438912" y="1613916"/>
            <a:ext cx="4800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spring.datasource.url=\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438912" y="1773936"/>
            <a:ext cx="4800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jdbc:postgresql://localhost:5432/produtosdb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438912" y="1933956"/>
            <a:ext cx="4800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spring.datasource.username=postgres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438912" y="2093976"/>
            <a:ext cx="4800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spring.datasource.password=sua_senha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438912" y="2253996"/>
            <a:ext cx="4800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spring.datasource.driver-class-name=\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38912" y="2414016"/>
            <a:ext cx="4800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org.postgresql.Driver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438912" y="2574036"/>
            <a:ext cx="4800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438912" y="2665476"/>
            <a:ext cx="4800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JPA / Hibernate ────────────────────────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38912" y="2825496"/>
            <a:ext cx="4800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spring.jpa.database-platform=\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438912" y="2985516"/>
            <a:ext cx="4800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org.hibernate.dialect.PostgreSQLDialect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38912" y="3145536"/>
            <a:ext cx="4800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spring.jpa.hibernate.ddl-auto=update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38912" y="3305556"/>
            <a:ext cx="4800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spring.jpa.show-sql=true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38912" y="3465576"/>
            <a:ext cx="4800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spring.jpa.properties.hibernate\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38912" y="3625596"/>
            <a:ext cx="4800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.format_sql=true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38912" y="3785616"/>
            <a:ext cx="4800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38912" y="3877056"/>
            <a:ext cx="4800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Servidor ───────────────────────────────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38912" y="4037076"/>
            <a:ext cx="4800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server.port=8080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5577840" y="102412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ddl-auto — Modos disponíveis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77840" y="1426464"/>
            <a:ext cx="3429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5577840" y="1426464"/>
            <a:ext cx="73152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687568" y="1463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87568" y="17007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Cria tabelas sempre ao iniciar. Apaga dados existentes!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5577840" y="2029968"/>
            <a:ext cx="3429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5577840" y="2029968"/>
            <a:ext cx="73152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5687568" y="206654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create-drop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87568" y="23042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Cria ao iniciar, remove ao encerrar.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5577840" y="2633472"/>
            <a:ext cx="3429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5577840" y="2633472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5687568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87568" y="29077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Atualiza schema sem apagar dados. Bom para dev.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5577840" y="3236976"/>
            <a:ext cx="3429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5577840" y="3236976"/>
            <a:ext cx="73152" cy="5303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5687568" y="32735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87568" y="35112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Valida schema sem alterar. Bom para produção.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5577840" y="3840480"/>
            <a:ext cx="3429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5577840" y="3840480"/>
            <a:ext cx="73152" cy="5303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5687568" y="38770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687568" y="4114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Hibernate não faz nada com o schema.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1B1B"/>
                </a:solidFill>
              </a:rPr>
              <a:t>⚠️  Em produção: use ddl-auto=validate ou none, e gerencie o schema com Flyway ou Liquibase.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Entidade JPA — Produto.java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38BDF8"/>
                </a:solidFill>
              </a:rPr>
              <a:t>07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A classe anotada com @Entity representa uma tabela no banco de dados.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Produto.java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755648"/>
            <a:ext cx="4114800" cy="30220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38912" y="1837944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438912" y="1997964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@Table(name = "produtos")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438912" y="2157984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Produto {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438912" y="2318004"/>
            <a:ext cx="3886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38912" y="2409444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@Id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38912" y="2569464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@GeneratedValue(strategy =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438912" y="2729484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GenerationType.IDENTITY)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38912" y="2889504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Long id;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38912" y="3049524"/>
            <a:ext cx="3886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38912" y="3140964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@Column(nullable = false)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438912" y="3300984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nome;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38912" y="3461004"/>
            <a:ext cx="3886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38912" y="3552444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@Column(nullable = false)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38912" y="3712464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Double preco;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438912" y="3872484"/>
            <a:ext cx="3886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38912" y="3963924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@Column(length = 500)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38912" y="4123944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descricao;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38912" y="4283964"/>
            <a:ext cx="3886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38912" y="4375404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getters e setters...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38912" y="4535424"/>
            <a:ext cx="3886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663440" y="141732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Tabela gerada no PostgreSQL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755648"/>
            <a:ext cx="41605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663440" y="1755648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05856" y="1755648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nome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48272" y="1755648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preco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90688" y="1755648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descricao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139696"/>
            <a:ext cx="104241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663440" y="2139696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05856" y="2139696"/>
            <a:ext cx="104241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5705856" y="2139696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48272" y="2139696"/>
            <a:ext cx="104241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748272" y="2139696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3500.00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90688" y="2139696"/>
            <a:ext cx="104241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7790688" y="2139696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 16GB RAM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2505456"/>
            <a:ext cx="1042416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4663440" y="2505456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05856" y="2505456"/>
            <a:ext cx="1042416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5705856" y="2505456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Teclado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48272" y="2505456"/>
            <a:ext cx="1042416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748272" y="2505456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199.99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790688" y="2505456"/>
            <a:ext cx="1042416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7790688" y="2505456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Teclado Mecânico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2871216"/>
            <a:ext cx="104241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4663440" y="2871216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705856" y="2871216"/>
            <a:ext cx="104241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5705856" y="2871216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748272" y="2871216"/>
            <a:ext cx="104241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6748272" y="2871216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89.90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790688" y="2871216"/>
            <a:ext cx="104241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7790688" y="2871216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 sem fio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663440" y="329184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Anotações explicadas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663440" y="3657600"/>
            <a:ext cx="41605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4736592" y="3657600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748272" y="3657600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Marca como entidade JPA → cria tabela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663440" y="3941064"/>
            <a:ext cx="4160520" cy="24688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4736592" y="3941064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@Table(name=...)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748272" y="3941064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Define o nome exato da tabela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663440" y="4224528"/>
            <a:ext cx="41605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4736592" y="4224528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@Id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748272" y="4224528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Chave primária da tabela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663440" y="4507992"/>
            <a:ext cx="4160520" cy="24688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Text 67"/>
          <p:cNvSpPr/>
          <p:nvPr/>
        </p:nvSpPr>
        <p:spPr>
          <a:xfrm>
            <a:off x="4736592" y="4507992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@GeneratedValue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748272" y="4507992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IDENTITY → auto increment do banco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663440" y="4791456"/>
            <a:ext cx="41605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Text 70"/>
          <p:cNvSpPr/>
          <p:nvPr/>
        </p:nvSpPr>
        <p:spPr>
          <a:xfrm>
            <a:off x="4736592" y="4791456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@Column(...)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748272" y="4791456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nullable, length, unique, name...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663440" y="5102352"/>
            <a:ext cx="41605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5" name="Text 73"/>
          <p:cNvSpPr/>
          <p:nvPr/>
        </p:nvSpPr>
        <p:spPr>
          <a:xfrm>
            <a:off x="4663440" y="51023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gerado: CREATE TABLE produtos (id BIGSERIAL PRIMARY KEY, nome VARCHAR(255) NOT NULL, ...)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Repository — ProdutoRepository.java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38BDF8"/>
                </a:solidFill>
              </a:rPr>
              <a:t>07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JpaRepository&lt;T, ID&gt; já oferece todos os métodos CRUD. Basta criar a interface — Spring Data gera a implementação automaticamente.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ProdutoRepository.java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938528"/>
            <a:ext cx="443484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38912" y="202082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@Repository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38912" y="220370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ProdutoRepository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8912" y="238658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extends JpaRepository&lt;Produto, Long&gt; {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" y="2569464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8912" y="26791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Métodos customizados: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8912" y="2862072"/>
            <a:ext cx="4206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8912" y="295351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Spring gera o SQL por nome do método!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8912" y="31363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List&lt;Produto&gt; findByNome(String nome);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8912" y="3319272"/>
            <a:ext cx="4206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38912" y="341071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List&lt;Produto&gt; findByPrecoLessThan(Double max);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38912" y="3593592"/>
            <a:ext cx="4206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38912" y="36850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List&lt;Produto&gt; findByNomeContaining(String termo);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8912" y="3867912"/>
            <a:ext cx="4206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8912" y="395935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Com @Query para JPQL customizado: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38912" y="4142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@Query("SELECT p FROM Produto p WHERE p.preco &gt; :min")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38912" y="432511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List&lt;Produto&gt; buscarAcimaDe(@Param("min") Double min);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8912" y="45079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92040" y="16002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Query Derivation — Magia do Spring Data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1938528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965192" y="193852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 + NomeCampo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7068312" y="193852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WHERE nome_campo = ?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92040" y="2368296"/>
            <a:ext cx="3931920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965192" y="236829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 + Campo + LessThan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7068312" y="23682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WHERE campo &lt; ?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92040" y="2798064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965192" y="279806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 + Campo + Containing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7068312" y="279806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WHERE campo LIKE 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92040" y="3227832"/>
            <a:ext cx="3931920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965192" y="322783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 + Campo + Between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7068312" y="32278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WHERE campo BETWEEN ?,?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92040" y="3657600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4965192" y="36576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 + Campo + OrderBy + Outro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7068312" y="36576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... ORDER BY outro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92040" y="4087368"/>
            <a:ext cx="3931920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4965192" y="408736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countBy + Campo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7068312" y="408736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SELECT count(*) WHERE...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92040" y="4517136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4965192" y="451713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existsBy + Campo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7068312" y="451713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SELECT count(*) &gt; 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892040" y="4956048"/>
            <a:ext cx="393192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4892040" y="49560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6534"/>
                </a:solidFill>
              </a:rPr>
              <a:t>✅  Não precisa escrever SQL! O Spring Data interpreta o nome do método.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Service e Controller com JPA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38BDF8"/>
                </a:solidFill>
              </a:rPr>
              <a:t>07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ProdutoService.java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44168"/>
            <a:ext cx="4206240" cy="41833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38912" y="1426464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8912" y="1577340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ProdutoService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8912" y="1728216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38912" y="1819656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final ProdutoRepository repo;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8912" y="1970532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" y="2061972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ProdutoService(ProdutoRepository repo) {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8912" y="2212848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this.repo = repo;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8912" y="2363724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8912" y="2514600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8912" y="2606040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List&lt;Produto&gt; listar() {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8912" y="2756916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repo.findAll();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38912" y="2907792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38912" y="3058668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38912" y="3150108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Produto buscar(Long id) {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8912" y="3300984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repo.findById(id)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8912" y="3451860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.orElseThrow(() -&gt;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38912" y="3602736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RuntimeException("Não encontrado"));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38912" y="3753612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8912" y="3904488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38912" y="3995928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@Transactional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38912" y="4146804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Produto salvar(Produto p) {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38912" y="4297680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repo.save(p);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38912" y="4448556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38912" y="4599432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38912" y="4690872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@Transactional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38912" y="4841748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deletar(Long id) {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38912" y="4992624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repo.deleteById(id);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38912" y="5143500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38912" y="5294376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63440" y="10058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ProdutoController.java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1344168"/>
            <a:ext cx="4206240" cy="49057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782312" y="1426464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82312" y="1577340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@RequestMapping("/produtos")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82312" y="1728216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ProdutoController {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82312" y="1879092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final ProdutoService svc;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82312" y="2029968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ProdutoController(ProdutoService svc) {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82312" y="2180844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this.svc = svc; }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82312" y="2331720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82312" y="2423160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82312" y="2574036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ResponseEntity&lt;List&lt;Produto&gt;&gt; listar() {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782312" y="2724912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ResponseEntity.ok(svc.listar());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782312" y="2875788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82312" y="3026664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782312" y="3118104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@GetMapping("/{id}")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782312" y="3268980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ResponseEntity&lt;Produto&gt; buscar(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782312" y="3419856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@PathVariable Long id) {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782312" y="3570732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ResponseEntity.ok(svc.buscar(id));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782312" y="3721608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782312" y="3872484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782312" y="3963924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@PostMapping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782312" y="4114800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ResponseEntity&lt;Produto&gt; criar(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782312" y="4265676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@RequestBody Produto p) {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782312" y="4416552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Produto salvo = svc.salvar(p);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782312" y="4567428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URI uri = URI.create("/produtos/" + salvo.getId());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782312" y="4718304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ResponseEntity.created(uri).body(salvo);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782312" y="4869180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782312" y="5020056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782312" y="5111496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@DeleteMapping("/{id}")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782312" y="5262372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ResponseEntity&lt;Void&gt; deletar(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782312" y="5413248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@PathVariable Long id) {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782312" y="5564124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svc.deletar(id);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782312" y="5715000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ResponseEntity.noContent().build();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782312" y="5865876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782312" y="6016752"/>
            <a:ext cx="3977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Fluxo Completo da Aplicação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38BDF8"/>
                </a:solidFill>
              </a:rPr>
              <a:t>07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1325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132588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82880" y="100584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" y="149961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Cliente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18288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Postman / App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08760" y="1371600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64208" y="1005840"/>
            <a:ext cx="1325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664208" y="1005840"/>
            <a:ext cx="132588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664208" y="100584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09928" y="149961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</a:rPr>
              <a:t>Controller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09928" y="18288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90088" y="1371600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145536" y="1005840"/>
            <a:ext cx="1325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3145536" y="1005840"/>
            <a:ext cx="132588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145536" y="100584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191256" y="149961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Service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91256" y="18288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71416" y="1371600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26864" y="1005840"/>
            <a:ext cx="1325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626864" y="1005840"/>
            <a:ext cx="13258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626864" y="100584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72584" y="149961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Repository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72584" y="18288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JpaRepository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52744" y="1371600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08192" y="1005840"/>
            <a:ext cx="1325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240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108192" y="1005840"/>
            <a:ext cx="1325880" cy="43891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108192" y="100584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153912" y="149961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</a:rPr>
              <a:t>Hibernate/JPA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53912" y="18288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Gera SQL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434072" y="1371600"/>
            <a:ext cx="155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589520" y="1005840"/>
            <a:ext cx="1325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7589520" y="1005840"/>
            <a:ext cx="132588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7589520" y="100584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635240" y="149961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35240" y="18288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Banco de dados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82880" y="2697480"/>
            <a:ext cx="877824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182880" y="274320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</a:rPr>
              <a:t>◄  Resposta JSON percorre o caminho inverso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004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Exemplo: POST /produtos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0040" y="3493008"/>
            <a:ext cx="85039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365760" y="3493008"/>
            <a:ext cx="274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</a:rPr>
              <a:t>→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8368" y="3493008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 → Controller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670048" y="3493008"/>
            <a:ext cx="6035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0F172A"/>
                </a:solidFill>
              </a:rPr>
              <a:t>POST /produtos  body: {"nome":"TV","preco":2800}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320040" y="3767328"/>
            <a:ext cx="8503920" cy="24688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365760" y="3767328"/>
            <a:ext cx="274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</a:rPr>
              <a:t>→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58368" y="3767328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 → Service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670048" y="3767328"/>
            <a:ext cx="6035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0F172A"/>
                </a:solidFill>
              </a:rPr>
              <a:t>svc.salvar(produto)  — sem HTTP aqui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320040" y="4041648"/>
            <a:ext cx="85039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365760" y="4041648"/>
            <a:ext cx="274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</a:rPr>
              <a:t>→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58368" y="4041648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→ Repository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670048" y="4041648"/>
            <a:ext cx="6035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0F172A"/>
                </a:solidFill>
              </a:rPr>
              <a:t>repo.save(produto)  — JpaRepository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320040" y="4315968"/>
            <a:ext cx="8503920" cy="24688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365760" y="4315968"/>
            <a:ext cx="274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</a:rPr>
              <a:t>→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58368" y="4315968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 → Hibernate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670048" y="4315968"/>
            <a:ext cx="6035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0F172A"/>
                </a:solidFill>
              </a:rPr>
              <a:t>Hibernate gera: INSERT INTO produtos ...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320040" y="4590288"/>
            <a:ext cx="85039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365760" y="4590288"/>
            <a:ext cx="274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</a:rPr>
              <a:t>→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58368" y="4590288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Hibernate → PostgreSQL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670048" y="4590288"/>
            <a:ext cx="6035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0F172A"/>
                </a:solidFill>
              </a:rPr>
              <a:t>Executa SQL, retorna produto com id gerado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320040" y="4864608"/>
            <a:ext cx="8503920" cy="24688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365760" y="4864608"/>
            <a:ext cx="274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←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58368" y="4864608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→ Controller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670048" y="4864608"/>
            <a:ext cx="6035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0F172A"/>
                </a:solidFill>
              </a:rPr>
              <a:t>Produto{id=1, nome='TV', preco=2800} → JSON → 201 Created</a:t>
            </a:r>
            <a:endParaRPr lang="en-US" sz="8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Estrutura Final do Projeto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38BDF8"/>
                </a:solidFill>
              </a:rPr>
              <a:t>07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93192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38912" y="10972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Estrutura de Pacotes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src/main/java/com/exemplo/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566928" y="1755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Application.java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566928" y="20299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controller/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76656" y="23042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ProdutoController.java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566928" y="2578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model/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76656" y="28529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Produto.java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566928" y="31272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repository/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76656" y="34015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ProdutoRepository.java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566928" y="36758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service/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76656" y="39502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ProdutoService.java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5720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57200" y="4498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src/main/resources/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66928" y="47731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application.properties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57200" y="50474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57200" y="53218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pom.xml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434840" y="1005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Papel de cada arquivo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1417320"/>
            <a:ext cx="4389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434840" y="1417320"/>
            <a:ext cx="73152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590288" y="1453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Application.java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90288" y="1691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Ponto de entrada. @SpringBootApplication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34840" y="2011680"/>
            <a:ext cx="4389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4434840" y="2011680"/>
            <a:ext cx="73152" cy="5303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590288" y="204825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Produto.java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90288" y="2286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@Entity: mapeia a tabela 'produtos'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34840" y="2606040"/>
            <a:ext cx="4389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4434840" y="2606040"/>
            <a:ext cx="731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590288" y="264261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ProdutoRepository.java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90288" y="28803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Interface JpaRepository: operações no banco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34840" y="3200400"/>
            <a:ext cx="4389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4434840" y="3200400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590288" y="323697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ProdutoService.java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90288" y="34747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@Service: lógica de negócio e @Transactional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434840" y="3794760"/>
            <a:ext cx="4389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4434840" y="3794760"/>
            <a:ext cx="73152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4590288" y="383133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ProdutoController.java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90288" y="40690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@RestController: endpoints HTTP da API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434840" y="4389120"/>
            <a:ext cx="4389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4434840" y="4389120"/>
            <a:ext cx="73152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4590288" y="44256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application.properties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90288" y="4663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URL banco, user, senha, ddl-auto, dialect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Recapitulando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 hoje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5720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16052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75488" y="15087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16002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ORM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9842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Mapeia Java ↔ SQL automaticamente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508760"/>
            <a:ext cx="416052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910328" y="15087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77840" y="16002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JPA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19842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Especificação que define contratos de persistência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416052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75488" y="256032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🔶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26517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Hibernate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0358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Implementação JPA padrão do Spring Boot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560320"/>
            <a:ext cx="416052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910328" y="256032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77840" y="26517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Spring Data JPA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30358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findAll, save, delete sem escrever 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16052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75488" y="361188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43000" y="37033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@Entity + @Id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40873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Anotações que definem a tabela e a PK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611880"/>
            <a:ext cx="416052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910328" y="361188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77840" y="37033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Repository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77840" y="40873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Interface JpaRepository + query derivation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Próximo passo: relacionamentos @OneToMany, @ManyToOne e consultas com JPQL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2231</Words>
  <Application>Microsoft Office PowerPoint</Application>
  <PresentationFormat>Apresentação na tela (16:9)</PresentationFormat>
  <Paragraphs>508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+ PostgreSQL + JPA</dc:title>
  <dc:subject>PptxGenJS Presentation</dc:subject>
  <dc:creator>PptxGenJS</dc:creator>
  <cp:lastModifiedBy>Daniel Pires</cp:lastModifiedBy>
  <cp:revision>2</cp:revision>
  <dcterms:created xsi:type="dcterms:W3CDTF">2026-05-11T10:20:06Z</dcterms:created>
  <dcterms:modified xsi:type="dcterms:W3CDTF">2026-05-11T13:14:58Z</dcterms:modified>
</cp:coreProperties>
</file>