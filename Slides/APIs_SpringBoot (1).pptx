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94360"/>
            <a:ext cx="228600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PROGRAMAÇÃO OO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com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Conceitos, fundamentos e implementação prática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· POST · PUT · DELETE · PathVariable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45720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 Superior · Computação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5214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 que é uma API?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Conceito e analogias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78992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7899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15214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HTTP e Arquitetura 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Verbos, status codes, recursos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011680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116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0848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Spring Boot &amp; MVC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468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Framework, padrão MVC e Stereotypes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011680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0116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0848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Injeção de Dependência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468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@Service, @Autowired e IoC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94436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44368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94436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0175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Endpoints na Prática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401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GET, POST, PUT, DELETE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94436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44368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4436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0175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PathVariable &amp; RequestBody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3401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Parâmetros e corpo da requisição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96312" y="387705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96312" y="3877056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96312" y="387705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182112" y="39502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Exemplo Completo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182112" y="43342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API de Produtos sem banco de dados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que é uma API?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API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— Application Programming Interface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É um contrato que define como sistemas diferentes se comunicam entre si.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56032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560320"/>
            <a:ext cx="274320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🍽️  Garçom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1546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O garçom leva seu pedido à cozinha e traz o resultado.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Você não precisa saber como o prato é feito.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256032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560320"/>
            <a:ext cx="274320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🔌  Tomada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1546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A tomada é uma interface padrão. Qualquer aparelho compatível pode usá-la sem conhecer a fiação.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256032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560320"/>
            <a:ext cx="274320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 App de Clima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1546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O app consome uma API meteorológica. Não armazena os dados — apenas solicita e exibe.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HTTP e Arquitetura REST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Verbos HTTP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05156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1508760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087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Buscar/listar dados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105156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488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2148840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148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Criar novo recurso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10515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8892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2788920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Atualizar recurso inteiro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429000"/>
            <a:ext cx="105156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2900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3429000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34290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Remover recurso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069080"/>
            <a:ext cx="105156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06908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4069080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40690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Atualização parcial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Status Codes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00600" y="15087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150876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54533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2xx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37760" y="15453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Sucesso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1947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200 OK · 201 Created · 204 No Content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251460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51460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5511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4xx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37760" y="25511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Erro Cliente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2953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400 Bad Request · 404 Not Found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352044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3520440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5570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5xx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37760" y="35570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Erro Servidor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37760" y="39593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500 Internal Server Error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4572000"/>
            <a:ext cx="4023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REST: Stateless · Recursos em URL · Representações (JSON/XML)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Spring Boot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Framework Java que simplifica a criação de aplicações, especialmente APIs REST.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8745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Autoconfiguração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Configura automaticamente dependências e beans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8745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Servidor Embutido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Tomcat incluído — sem deploy em servidor externo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9260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017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Spring Initializr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37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Geração de projeto em start.spring.io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9260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3017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Anotações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3337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@RestController, @GetMapping, @PostMapping...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Dependências necessárias (pom.xml)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370832"/>
            <a:ext cx="85039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37083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spring-boot-starter-web   ·   spring-boot-starter-test   ·   (opcional) lombok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Padrão MVC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MVC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— Model · View · Controller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|  Padrão arquitetural que separa responsabilidades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64208"/>
            <a:ext cx="27432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6420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60120" y="16642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9768" y="2523744"/>
            <a:ext cx="2523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Representa os dados e as regras de negócio da aplicação.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" y="3291840"/>
            <a:ext cx="2523744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2918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→ O quê (dados e lógica)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36758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Exemplos: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390448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Produto.java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9768" y="4142232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Pedido.java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437997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ProdutoService.java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46120" y="166420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664208"/>
            <a:ext cx="274320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66420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886200" y="16642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View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55848" y="2523744"/>
            <a:ext cx="2523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Apresenta os dados ao usuário. Em APIs REST, o JSON retornado é a 'View'.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55848" y="3291840"/>
            <a:ext cx="2523744" cy="292608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2918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→ Como exibir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55848" y="36758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Exemplos: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55848" y="390448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JSON de resposta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55848" y="4142232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XML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55848" y="437997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(Thymeleaf em apps web)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166420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664208"/>
            <a:ext cx="274320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66420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812280" y="16642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Controller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281928" y="2523744"/>
            <a:ext cx="2523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Recebe as requisições, aciona o Model e retorna a View adequada.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81928" y="3291840"/>
            <a:ext cx="2523744" cy="292608"/>
          </a:xfrm>
          <a:prstGeom prst="rect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32918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→ Coordenação do fluxo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81928" y="36758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Exemplos: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81928" y="390448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ProdutoController.java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81928" y="4142232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@GetMapping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81928" y="437997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@PostMapping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063240" y="2834640"/>
            <a:ext cx="109728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2834640"/>
            <a:ext cx="109728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MVC no Spring Boot — Fluxo de uma Requisição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92024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" y="161848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Cliente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0116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Postman / App / Browser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691640"/>
            <a:ext cx="22860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6002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14600" y="10972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097280"/>
            <a:ext cx="192024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87752" y="161848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20116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34840" y="1691640"/>
            <a:ext cx="22860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6002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97280"/>
            <a:ext cx="19202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36592" y="161848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Service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36592" y="20116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1691640"/>
            <a:ext cx="22860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6002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12280" y="10972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097280"/>
            <a:ext cx="19202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🗃️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85432" y="161848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Model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85432" y="20116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Produto.java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8BDF8"/>
                </a:solidFill>
              </a:rPr>
              <a:t>◄  Resposta JSON retorna pelo mesmo caminho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Responsabilidade de cada camada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3657600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657600"/>
            <a:ext cx="73152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657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965960" y="3657600"/>
            <a:ext cx="6720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Recebe HTTP, valida entrada, chama Service, devolve ResponseEntity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114800"/>
            <a:ext cx="85039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114800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114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965960" y="4114800"/>
            <a:ext cx="6720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Contém a lógica de negócio; não conhece HTTP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572000"/>
            <a:ext cx="73152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572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965960" y="4572000"/>
            <a:ext cx="6720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Representa entidades do domínio; sem lógica de requisição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Estereótipos (Stereotypes)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2400E"/>
                </a:solidFill>
              </a:rPr>
              <a:t>Stereotype é uma anotação que marca o papel de uma classe no contexto do Spring.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2400E"/>
                </a:solidFill>
              </a:rPr>
              <a:t>O Spring a detecta automaticamente e registra como um Bean gerenciado (Component Scan).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402336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1305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Anotação genérica. Marca qualquer classe como Bean Spring.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Quando usar: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Quando nenhum papel específico se aplica.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0" y="2130552"/>
            <a:ext cx="1508760" cy="10424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2203704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07208" y="2514600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EmailUtils { ... }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691640"/>
            <a:ext cx="40233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3168" y="21305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Marca a camada de serviço. Contém a lógica de negócio.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73168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Quando usar: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Regras de negócio, cálculos, orquestração.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86600" y="2130552"/>
            <a:ext cx="1508760" cy="10424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2203704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50608" y="2514600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ProdutoService { ... }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355848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355848"/>
            <a:ext cx="40233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355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" y="3794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Marca a camada de acesso a dados. Traduz exceções de banco.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9768" y="4361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Quando usar: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DAOs, acesso ao banco, consultas JPA.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0" y="3794760"/>
            <a:ext cx="1508760" cy="10424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07208" y="3867912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07208" y="4178808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ProdutoRepo { ... }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355848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355848"/>
            <a:ext cx="402336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355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 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73168" y="3794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Marca a camada de apresentação. @RestController já inclui @ResponseBody.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73168" y="4361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Quando usar: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Endpoints HTTP, receber e responder requisições.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086600" y="3794760"/>
            <a:ext cx="1508760" cy="10424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0608" y="3867912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50608" y="4178808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ProdutoCtrl { ... }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@Service, @Repository e @Controller são especializações de @Component — todos ativam o Component Scan.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Injeção de Dependência (DI)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Em vez de criar objetos com new, o Spring cria e injeta as dependências automaticamente — Inversão de Controle (IoC).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❌  Sem injeção (acoplamento forte)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40233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205740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" y="2200961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ProdutoController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234452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248808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Instância criada manualmente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2631643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ProdutoService service =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" y="2775204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ProdutoService();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" y="2918765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306232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Forte acoplamento — difícil de testar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320588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1645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 Com injeção (@Autowired)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993392"/>
            <a:ext cx="40233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05740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92040" y="2200961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ProdutoController {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234452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248808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✅ Spring injeta automaticamente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2631643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2775204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ProdutoService service;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92040" y="2918765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306232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Fácil de testar e substituir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320588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547872"/>
            <a:ext cx="850392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54787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⭐  Boa prática: prefira injeção via construtor (mais fácil de testar e obrigatório em final fields)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904488"/>
            <a:ext cx="8503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38912" y="3959352"/>
            <a:ext cx="822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" y="4075481"/>
            <a:ext cx="822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ProdutoController {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8912" y="4191610"/>
            <a:ext cx="822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ProdutoService service;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8912" y="4307738"/>
            <a:ext cx="822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38912" y="4423867"/>
            <a:ext cx="822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ProdutoController(ProdutoService service) { // Spring injeta via construtor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8912" y="4539996"/>
            <a:ext cx="822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this.service = service;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8912" y="4656125"/>
            <a:ext cx="822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8912" y="4772254"/>
            <a:ext cx="822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Estrutura do Projeto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2336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Estrutura de Pacotes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src/main/java/com/exemplo/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8836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Application.java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50545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ProdutoController.java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8163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1272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Produto.java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43814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service/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ProdutoService.java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05993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src/main/resources/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3708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application.properties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10515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Anotações Principais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95160" y="1508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Ponto de entrada da aplicação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911096"/>
            <a:ext cx="4160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9110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95160" y="191109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Classe que trata requisições HTTP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313432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313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95160" y="23134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Define o caminho base do controller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715768"/>
            <a:ext cx="4160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7157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95160" y="271576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Mapeia requisições GET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118104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1181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95160" y="311810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Mapeia requisições POST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520440"/>
            <a:ext cx="4160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@PutMapping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95160" y="3520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Mapeia requisições PUT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922776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9227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95160" y="39227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Mapeia requisições DELETE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325112"/>
            <a:ext cx="4160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325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95160" y="43251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Captura variável da URL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4727448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727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95160" y="47274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Captura o corpo JSON da requisição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e Armazenamento em Memória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💡  Sem banco de dados: usamos uma List&lt;Produto&gt; em memória para simular o repositório.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Produto.java  (Model)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402336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993392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 {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63470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333549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id;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503627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nome;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673706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Double preco;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84378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013862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Constructors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183941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Produto() {}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354019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Produto(Long id,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524098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nome, Double preco) {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694176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this.id = id;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86425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this.nome = nome;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034333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this.preco = preco;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204411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4374490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Getters e Setters...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544568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16002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ProdutoService.java  (Lista em Memória)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938528"/>
            <a:ext cx="416052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1993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215432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ProdutoService {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2315261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2476195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List&lt;Produto&gt; lista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263713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new ArrayList&lt;&gt;();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27980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nextId = 1L;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95899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3119933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List&lt;Produto&gt; listar() {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3280867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lista;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344180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36027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376367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Produto buscarPorId(Long id) {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0" y="3924605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lista.stream()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4085539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.filter(p -&gt; p.getId()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0" y="424647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.equals(id))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44074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.findFirst().orElse(null);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456834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4880" y="4729277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Buscar Dados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04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91440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0515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0515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Lista todos os produtos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64592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645920"/>
            <a:ext cx="91440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164592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/produtos/{id}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6459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Busca produto por 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Implementação no Controller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679192"/>
            <a:ext cx="850392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724912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57200" y="2842870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@RequestMapping("/produtos")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57200" y="2960827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ProdutoController {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57200" y="3078785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57200" y="3196742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57200" y="3314700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ProdutoService service;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57200" y="3432658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57200" y="3550615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57200" y="3668573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ResponseEntity&lt;List&lt;Produto&gt;&gt; listar() {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57200" y="3786530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ResponseEntity.ok(service.listar());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57200" y="3904488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57200" y="4022446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57200" y="4140403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@GetMapping("/{id}")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57200" y="4258361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ResponseEntity&lt;Produto&gt; buscar(@PathVariable Long id) {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57200" y="4376318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 p = service.buscarPorId(id);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57200" y="4494276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 == null) return ResponseEntity.notFound().build();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57200" y="461223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ResponseEntity.ok(p);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57200" y="4730191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0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Criar Recurso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04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109728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10515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0515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Cria um novo produto · Status 201 Created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6642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Body da Requisição (JSON)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11680"/>
            <a:ext cx="40233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075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40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"nome": "Notebook",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"preco": 3500.00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66420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Resposta (201 Created)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011680"/>
            <a:ext cx="41605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07568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29057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50545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"nome": "Notebook",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72034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"preco": 3500.00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93522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Implementação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685032"/>
            <a:ext cx="8503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74904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@PostMapping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9182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ResponseEntity&lt;Produto&gt; criar(@RequestBody Produto produto) {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08736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produto.setId(nextId++);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2565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lista.add(produto);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4256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URI uri = URI.create("/produtos/" + produto.getId());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5948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ResponseEntity.created(uri).body(produto);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76402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Atualizar Recurso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04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10058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0515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/produtos/{id}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0515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Substitui o produto inteiro · Status 200 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Implementação no Controller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11680"/>
            <a:ext cx="85039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075688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@PutMapping("/{id}")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11019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ResponseEntity&lt;Produto&gt; atualizar(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346350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@PathVariable Long id,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481682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@RequestBody Produto produto) {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617013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752344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 existente = service.buscarPorId(id);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887675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(existente == null)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023006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ResponseEntity.notFound().build();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158338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293669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produto.setId(id);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service.atualizar(id, produto);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564331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ResponseEntity.ok(produto);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699662"/>
            <a:ext cx="82296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PUT vs PATCH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407408"/>
            <a:ext cx="8503920" cy="33832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407408"/>
            <a:ext cx="73152" cy="338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0740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80160" y="4407408"/>
            <a:ext cx="7406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Substitui o objeto inteiro. Campos não enviados podem ficar nulos.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791456"/>
            <a:ext cx="8503920" cy="338328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791456"/>
            <a:ext cx="73152" cy="3383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9145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PATCH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791456"/>
            <a:ext cx="7406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Atualização parcial. Apenas os campos enviados são modificados.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DELETE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Remover Recurso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04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128016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DELETE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0515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/produtos/{id}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0515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Remove produto · Status 204 No Content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Implementação no Controller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11680"/>
            <a:ext cx="85039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07568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@DeleteMapping("/{id}")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0827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ResponseEntity&lt;Void&gt; deletar(@PathVariable Long id) {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340864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47345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 existente = service.buscarPorId(id);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606040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(existente == null)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73862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ResponseEntity.notFound().build();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87121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003804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service.deletar(id);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13639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ResponseEntity.noContent().build();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268980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Boas práticas de Status Code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00507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005072"/>
            <a:ext cx="73152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050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20240" y="400507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GET retornou dados com sucesso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400507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4005072"/>
            <a:ext cx="73152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0050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400507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POST criou o recurso com sucesso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480560"/>
            <a:ext cx="73152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8056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 No Content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20240" y="448056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DELETE bem-sucedido (sem corpo)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448056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4480560"/>
            <a:ext cx="7315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48056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448056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Recurso não encontrado pelo ID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97480" y="4956048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7480" y="4956048"/>
            <a:ext cx="73152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495604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Bad Request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297680" y="495604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Dados inválidos enviados pelo cliente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@PathVariable  e  @RequestBody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233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Captura um valor diretamente da URL.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56232"/>
            <a:ext cx="40233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56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/produtos/42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40233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41401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@GetMapping("/{id}")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63063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ResponseEntity&lt;Produto&gt;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71211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buscar(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86115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@PathVariable Long id) {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10205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id = 42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15925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ResponseEntity.ok(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308299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service.buscarPorId(id));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45734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1051560"/>
            <a:ext cx="402336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1508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Deserializa o JSON do corpo da requisição em um objeto Java.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1856232"/>
            <a:ext cx="402336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911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"nome": "Notebook",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"preco": 3500.0 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633472"/>
            <a:ext cx="40233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2688336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82092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ResponseEntity&lt;Produto&gt;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295351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criar(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08610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@RequestBody Produto p) {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21868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lista.add(p);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351276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ResponseEntity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4838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.created(...).body(p);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749040"/>
            <a:ext cx="8503920" cy="50292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7490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</a:rPr>
              <a:t>🔄  Spring converte automaticamente JSON ↔ Objeto Java usando a biblioteca Jackson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2004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Múltiplos @PathVariable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@GetMapping("/categorias/{cat}/produtos/{id}")  →  @PathVariable String cat, @PathVariable Long id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Exemplo Completo — ProdutoService.java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69848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191463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ProdutoService {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313078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43469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List&lt;Produto&gt; lista = new ArrayList&lt;&gt;();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556309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nextId = 1L;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67792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1799539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List&lt;Produto&gt; listar() { return lista;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92115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042770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Produto buscarPorId(Long id)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164385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lista.stream().filter(p -&gt; p.getId().equals(id))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.findFirst().orElse(null);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407615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529230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650846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Produto criar(Produto p) {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772461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p.setId(nextId++);  lista.add(p);  return p;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2894076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015691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137306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Produto atualizar(Long id, Produto novo) {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258922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lista.size(); i++)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380537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(lista.get(i).getId().equals(id)) {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3502152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novo.setId(id);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623767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lista.set(i, novo);  return novo;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3745382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3866998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 return null;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3988613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110228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231843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boolean deletar(Long id) {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353458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lista.removeIf(p -&gt; p.getId().equals(id));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47507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4596689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Exemplo Completo — ProdutoController.java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60704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457200" y="1167689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@RequestMapping("/produtos")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57200" y="1274674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ProdutoController {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457200" y="1381658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ProdutoService service;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457200" y="1488643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57200" y="1595628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57200" y="1702613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ResponseEntity&lt;List&lt;Produto&gt;&gt; listar() {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57200" y="1809598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ResponseEntity.ok(service.listar());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57200" y="1916582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57200" y="2023567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57200" y="2130552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@GetMapping("/{id}")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57200" y="2237537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ResponseEntity&lt;Produto&gt; buscar(@PathVariable Long id) {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57200" y="2344522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 p = service.buscarPorId(id);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57200" y="2451506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 != null ? ResponseEntity.ok(p)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57200" y="2558491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: ResponseEntity.notFound().build();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57200" y="2665476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57200" y="2772461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57200" y="2879446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@PostMapping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57200" y="2986430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ResponseEntity&lt;Produto&gt; criar(@RequestBody Produto p) {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57200" y="3093415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 criado = service.criar(p);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57200" y="3200400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URI uri = URI.create("/produtos/" + criado.getId());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57200" y="3307385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ResponseEntity.created(uri).body(criado);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57200" y="3414370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57200" y="3521354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57200" y="3628339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@PutMapping("/{id}")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57200" y="3735324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ResponseEntity&lt;Produto&gt; atualizar(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57200" y="3842309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@PathVariable Long id, @RequestBody Produto p) {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57200" y="3949294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 att = service.atualizar(id, p);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57200" y="4056278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att != null ? ResponseEntity.ok(att)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57200" y="4163263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: ResponseEntity.notFound().build();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57200" y="4270248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57200" y="4377233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57200" y="4484218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@DeleteMapping("/{id}")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57200" y="4591202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ResponseEntity&lt;Void&gt; deletar(@PathVariable Long id) {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57200" y="4698187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service.deletar(id) ? ResponseEntity.noContent().build()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57200" y="4805172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: ResponseEntity.notFound().build();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57200" y="4912157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457200" y="5019142"/>
            <a:ext cx="82296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Testando a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0972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005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Lista todos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63040" y="126187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GET    http://localhost:8080/produtos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8503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10512"/>
            <a:ext cx="10972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105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Busca por ID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63040" y="2066544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GET    http://localhost:8080/produtos/1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615184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615184"/>
            <a:ext cx="109728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1518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2615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Cria produto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63040" y="28712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  http://localhost:8080/produtos \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303580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63040" y="320040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'{"nome":"Teclado","preco":199.0}'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419856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19856"/>
            <a:ext cx="109728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1985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419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Atualiza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63040" y="367588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PUT    http://localhost:8080/produtos/1 \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63040" y="384048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400507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'{"nome":"Teclado Gamer","preco":299.0}'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224528"/>
            <a:ext cx="10972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245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Remove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63040" y="448056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DELETE  http://localhost:8080/produtos/1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hoje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0233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Interface de comunicação entre sistemas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40233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5448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645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REST + HTTP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2011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GET, POST, PUT, DELETE e status codes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40233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5176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Spring Boot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Autoconfiguração e servidor embutido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651760"/>
            <a:ext cx="40233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65176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@RestController + @*Mapping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40233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4904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88720" y="3840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Parâmetros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@PathVariable e @RequestBody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749040"/>
            <a:ext cx="40233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4904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32120" y="3840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Testes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321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curl, Postman e Insomnia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Próximo passo: integrar com banco de dados usando Spring Data JPA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APIs com Spring Boot</dc:title>
  <dc:subject>PptxGenJS Presentation</dc:subject>
  <dc:creator>PptxGenJS</dc:creator>
  <cp:lastModifiedBy>PptxGenJS</cp:lastModifiedBy>
  <cp:revision>1</cp:revision>
  <dcterms:created xsi:type="dcterms:W3CDTF">2026-05-07T23:48:27Z</dcterms:created>
  <dcterms:modified xsi:type="dcterms:W3CDTF">2026-05-07T23:48:27Z</dcterms:modified>
</cp:coreProperties>
</file>